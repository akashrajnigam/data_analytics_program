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57" r:id="rId3"/>
    <p:sldId id="258" r:id="rId4"/>
    <p:sldId id="259" r:id="rId5"/>
    <p:sldId id="260" r:id="rId6"/>
    <p:sldId id="268" r:id="rId7"/>
    <p:sldId id="269" r:id="rId8"/>
    <p:sldId id="261" r:id="rId9"/>
    <p:sldId id="262" r:id="rId10"/>
    <p:sldId id="263" r:id="rId11"/>
    <p:sldId id="267" r:id="rId12"/>
    <p:sldId id="264" r:id="rId13"/>
    <p:sldId id="265" r:id="rId14"/>
    <p:sldId id="266" r:id="rId15"/>
    <p:sldId id="271" r:id="rId16"/>
    <p:sldId id="272" r:id="rId17"/>
    <p:sldId id="27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78" autoAdjust="0"/>
    <p:restoredTop sz="94660"/>
  </p:normalViewPr>
  <p:slideViewPr>
    <p:cSldViewPr snapToGrid="0">
      <p:cViewPr varScale="1">
        <p:scale>
          <a:sx n="76" d="100"/>
          <a:sy n="76" d="100"/>
        </p:scale>
        <p:origin x="907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174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280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556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654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914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556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842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177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270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093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938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2022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101D61-0921-2EA5-8909-871E65DE55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04552" y="871758"/>
            <a:ext cx="5825448" cy="3871143"/>
          </a:xfrm>
        </p:spPr>
        <p:txBody>
          <a:bodyPr>
            <a:normAutofit/>
          </a:bodyPr>
          <a:lstStyle/>
          <a:p>
            <a:r>
              <a:rPr lang="en-US" dirty="0"/>
              <a:t>Data Analytics Introduction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22B36A-8BDE-83C9-8EB1-4678DD2DE6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04552" y="4794793"/>
            <a:ext cx="5825448" cy="1005657"/>
          </a:xfrm>
        </p:spPr>
        <p:txBody>
          <a:bodyPr>
            <a:normAutofit/>
          </a:bodyPr>
          <a:lstStyle/>
          <a:p>
            <a:r>
              <a:rPr lang="en-US" sz="2400" dirty="0"/>
              <a:t>“Analytics starts with questions, not tools.”</a:t>
            </a:r>
            <a:endParaRPr lang="en-IN" sz="2400" dirty="0"/>
          </a:p>
        </p:txBody>
      </p:sp>
      <p:pic>
        <p:nvPicPr>
          <p:cNvPr id="18" name="Picture 17" descr="An abstract genetic concept">
            <a:extLst>
              <a:ext uri="{FF2B5EF4-FFF2-40B4-BE49-F238E27FC236}">
                <a16:creationId xmlns:a16="http://schemas.microsoft.com/office/drawing/2014/main" id="{E9BA5F27-8471-9295-81EE-7B64D6B981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404" r="11485"/>
          <a:stretch>
            <a:fillRect/>
          </a:stretch>
        </p:blipFill>
        <p:spPr>
          <a:xfrm>
            <a:off x="1" y="10"/>
            <a:ext cx="4876799" cy="6857989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723900"/>
            <a:ext cx="5706224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CF06E40-3ECB-4820-95B5-8A70B07D4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6134100"/>
            <a:ext cx="56681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2822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37DF8B-766C-CB42-0B5D-9508366FA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3343" y="1707985"/>
            <a:ext cx="5804426" cy="337676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6100" dirty="0"/>
              <a:t>DATA ?</a:t>
            </a:r>
            <a:br>
              <a:rPr lang="en-US" sz="6100" dirty="0"/>
            </a:br>
            <a:r>
              <a:rPr lang="en-US" sz="6100" dirty="0"/>
              <a:t>information ?</a:t>
            </a:r>
            <a:br>
              <a:rPr lang="en-US" sz="6100" dirty="0"/>
            </a:br>
            <a:r>
              <a:rPr lang="en-US" sz="6100" dirty="0"/>
              <a:t>KNOWLEDGE ?</a:t>
            </a:r>
          </a:p>
        </p:txBody>
      </p:sp>
      <p:pic>
        <p:nvPicPr>
          <p:cNvPr id="6" name="Graphic 5" descr="Database">
            <a:extLst>
              <a:ext uri="{FF2B5EF4-FFF2-40B4-BE49-F238E27FC236}">
                <a16:creationId xmlns:a16="http://schemas.microsoft.com/office/drawing/2014/main" id="{C3EFC430-5E93-92D7-1ECB-85DAD747A1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5383" y="1171349"/>
            <a:ext cx="4515301" cy="4515301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33343" y="723900"/>
            <a:ext cx="5715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8E634B8-311A-4810-A5DB-7043D0280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33343" y="6134100"/>
            <a:ext cx="5715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6610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29914D7-7E90-8AA5-26B6-99B8FBBDFD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4932" y="1165609"/>
            <a:ext cx="5446208" cy="41499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B6544C3-50FC-A225-A30C-98B831CB73A2}"/>
              </a:ext>
            </a:extLst>
          </p:cNvPr>
          <p:cNvSpPr txBox="1"/>
          <p:nvPr/>
        </p:nvSpPr>
        <p:spPr>
          <a:xfrm>
            <a:off x="7322631" y="1532433"/>
            <a:ext cx="416242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Data: </a:t>
            </a:r>
            <a:r>
              <a:rPr lang="en-US" sz="2400" dirty="0"/>
              <a:t>Raw facts, figures, symbols, etc.</a:t>
            </a:r>
          </a:p>
          <a:p>
            <a:endParaRPr lang="en-US" sz="2400" b="1" dirty="0"/>
          </a:p>
          <a:p>
            <a:r>
              <a:rPr lang="en-IN" sz="2400" b="1" dirty="0"/>
              <a:t>Information: </a:t>
            </a:r>
            <a:r>
              <a:rPr lang="en-IN" sz="2400" dirty="0"/>
              <a:t>Processed form of data which could be understood.</a:t>
            </a:r>
          </a:p>
          <a:p>
            <a:endParaRPr lang="en-IN" sz="2400" b="1" dirty="0"/>
          </a:p>
          <a:p>
            <a:r>
              <a:rPr lang="en-IN" sz="2400" b="1" dirty="0"/>
              <a:t>Knowledge: </a:t>
            </a:r>
            <a:r>
              <a:rPr lang="en-IN" sz="2400" dirty="0"/>
              <a:t>Information put to good use.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786629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2365D7-7950-4FAA-7E66-AD39F31D4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9422" y="1447801"/>
            <a:ext cx="4808369" cy="3376766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>
              <a:lnSpc>
                <a:spcPct val="90000"/>
              </a:lnSpc>
            </a:pPr>
            <a:br>
              <a:rPr lang="en-US" dirty="0"/>
            </a:br>
            <a:r>
              <a:rPr lang="en-US" sz="4400" dirty="0"/>
              <a:t>What does an analyst do? </a:t>
            </a:r>
            <a:br>
              <a:rPr lang="en-US" sz="4400" dirty="0"/>
            </a:br>
            <a:br>
              <a:rPr lang="en-US" sz="4400" dirty="0"/>
            </a:br>
            <a:r>
              <a:rPr lang="en-US" sz="4400" dirty="0"/>
              <a:t>Data Analyst vs Business Analyst</a:t>
            </a:r>
            <a:endParaRPr lang="en-US" dirty="0"/>
          </a:p>
        </p:txBody>
      </p:sp>
      <p:pic>
        <p:nvPicPr>
          <p:cNvPr id="14" name="Graphic 13" descr="Head with Gears">
            <a:extLst>
              <a:ext uri="{FF2B5EF4-FFF2-40B4-BE49-F238E27FC236}">
                <a16:creationId xmlns:a16="http://schemas.microsoft.com/office/drawing/2014/main" id="{912ACCC6-6152-9ED2-FE2C-D1F619666D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5383" y="1171349"/>
            <a:ext cx="4515301" cy="4515301"/>
          </a:xfrm>
          <a:prstGeom prst="rect">
            <a:avLst/>
          </a:prstGeom>
        </p:spPr>
      </p:pic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33343" y="723900"/>
            <a:ext cx="5715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8E634B8-311A-4810-A5DB-7043D0280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33343" y="6134100"/>
            <a:ext cx="5715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336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3C6AF7-1990-7F44-E79B-7581CF7B71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1769" y="930520"/>
            <a:ext cx="9728461" cy="11339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An </a:t>
            </a:r>
            <a:r>
              <a:rPr lang="en-US" sz="1800" b="1" dirty="0"/>
              <a:t>analyst</a:t>
            </a:r>
            <a:r>
              <a:rPr lang="en-US" sz="1800" dirty="0"/>
              <a:t> is someone who </a:t>
            </a:r>
            <a:r>
              <a:rPr lang="en-US" sz="1800" b="1" dirty="0"/>
              <a:t>collects information, examines it carefully, and uses it to help people understand situations or make decisions</a:t>
            </a:r>
            <a:r>
              <a:rPr lang="en-US" sz="1800" dirty="0"/>
              <a:t>. What they do day-to-day depends on the field they work in, but the core idea is the same: </a:t>
            </a:r>
            <a:r>
              <a:rPr lang="en-US" sz="1800" b="1" dirty="0"/>
              <a:t>turn data into insights</a:t>
            </a:r>
            <a:r>
              <a:rPr lang="en-US" sz="1800" dirty="0"/>
              <a:t>.</a:t>
            </a:r>
          </a:p>
          <a:p>
            <a:endParaRPr lang="en-IN" sz="1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67B7FC-A87F-F433-373D-4DBF371B629D}"/>
              </a:ext>
            </a:extLst>
          </p:cNvPr>
          <p:cNvSpPr txBox="1"/>
          <p:nvPr/>
        </p:nvSpPr>
        <p:spPr>
          <a:xfrm>
            <a:off x="1231769" y="2163451"/>
            <a:ext cx="4421171" cy="307776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What analysts generally do?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Gather data</a:t>
            </a:r>
            <a:r>
              <a:rPr lang="en-US" sz="1600" dirty="0"/>
              <a:t> (numbers, reports, surveys, trends, etc.)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Clean and organize information</a:t>
            </a:r>
            <a:r>
              <a:rPr lang="en-US" sz="1600" dirty="0"/>
              <a:t> so it makes sense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Look for patterns or problems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Draw conclusions</a:t>
            </a:r>
            <a:r>
              <a:rPr lang="en-US" sz="1600" dirty="0"/>
              <a:t> and explain what the data means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Make recommendations</a:t>
            </a:r>
            <a:r>
              <a:rPr lang="en-US" sz="1600" dirty="0"/>
              <a:t> based on their findings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Present results</a:t>
            </a:r>
            <a:r>
              <a:rPr lang="en-US" sz="1600" dirty="0"/>
              <a:t> in reports, charts, or presentations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A506ED1-E331-3961-DFB0-BE5A0E9134B7}"/>
              </a:ext>
            </a:extLst>
          </p:cNvPr>
          <p:cNvCxnSpPr/>
          <p:nvPr/>
        </p:nvCxnSpPr>
        <p:spPr>
          <a:xfrm>
            <a:off x="6095999" y="2064383"/>
            <a:ext cx="0" cy="334800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159C9B2-C50A-FF7D-6216-5957E52F4F0A}"/>
              </a:ext>
            </a:extLst>
          </p:cNvPr>
          <p:cNvSpPr txBox="1"/>
          <p:nvPr/>
        </p:nvSpPr>
        <p:spPr>
          <a:xfrm>
            <a:off x="6268823" y="2163451"/>
            <a:ext cx="5015059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Common types of analysts: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Data Analyst</a:t>
            </a:r>
            <a:r>
              <a:rPr lang="en-US" sz="1600" dirty="0"/>
              <a:t> – works with data sets to find trends (often using Excel, SQL, Python)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Business Analyst</a:t>
            </a:r>
            <a:r>
              <a:rPr lang="en-US" sz="1600" dirty="0"/>
              <a:t> – helps companies improve processes or make better decisions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Financial Analyst</a:t>
            </a:r>
            <a:r>
              <a:rPr lang="en-US" sz="1600" dirty="0"/>
              <a:t> – studies money, investments, budgets, and financial 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Market Analyst</a:t>
            </a:r>
            <a:r>
              <a:rPr lang="en-US" sz="1600" dirty="0"/>
              <a:t> – looks at customers, competitors, and market trends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Policy Analyst</a:t>
            </a:r>
            <a:r>
              <a:rPr lang="en-US" sz="1600" dirty="0"/>
              <a:t> – analyzes laws and public policies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Security/Cyber Analyst</a:t>
            </a:r>
            <a:r>
              <a:rPr lang="en-US" sz="1600" dirty="0"/>
              <a:t> – focuses on protecting systems and data</a:t>
            </a:r>
          </a:p>
        </p:txBody>
      </p:sp>
    </p:spTree>
    <p:extLst>
      <p:ext uri="{BB962C8B-B14F-4D97-AF65-F5344CB8AC3E}">
        <p14:creationId xmlns:p14="http://schemas.microsoft.com/office/powerpoint/2010/main" val="2361291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6526E5-0C4F-2051-27C0-D466CBD22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400" y="908651"/>
            <a:ext cx="4937004" cy="405868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500"/>
              <a:t>General process involved In analytics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FD01B70-2D97-3990-5CB2-F834E49085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5751"/>
          <a:stretch>
            <a:fillRect/>
          </a:stretch>
        </p:blipFill>
        <p:spPr>
          <a:xfrm>
            <a:off x="6326273" y="0"/>
            <a:ext cx="5865727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99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EC0C3F8-692C-F419-7465-2F3416E568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0821"/>
          <a:stretch>
            <a:fillRect/>
          </a:stretch>
        </p:blipFill>
        <p:spPr>
          <a:xfrm>
            <a:off x="1597688" y="1109808"/>
            <a:ext cx="9161207" cy="463838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9994A2E-CA1F-A2B8-72E5-A88EF36E2536}"/>
              </a:ext>
            </a:extLst>
          </p:cNvPr>
          <p:cNvSpPr/>
          <p:nvPr/>
        </p:nvSpPr>
        <p:spPr>
          <a:xfrm>
            <a:off x="8977720" y="5224317"/>
            <a:ext cx="1781175" cy="523875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52629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0E52DF2-6802-459B-AC2A-AF976DEB1D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4B76D9-AA71-DAD9-8697-98B3068FF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8260" y="4006392"/>
            <a:ext cx="3863523" cy="156540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Types OF Analytics</a:t>
            </a:r>
          </a:p>
        </p:txBody>
      </p:sp>
      <p:pic>
        <p:nvPicPr>
          <p:cNvPr id="4" name="Picture 3" descr="Financial graphs on a dark display">
            <a:extLst>
              <a:ext uri="{FF2B5EF4-FFF2-40B4-BE49-F238E27FC236}">
                <a16:creationId xmlns:a16="http://schemas.microsoft.com/office/drawing/2014/main" id="{267E7F7E-6DCA-A322-776E-00A4D59F0F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737" r="19546"/>
          <a:stretch>
            <a:fillRect/>
          </a:stretch>
        </p:blipFill>
        <p:spPr>
          <a:xfrm>
            <a:off x="20" y="10"/>
            <a:ext cx="7320707" cy="685798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153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49257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B9C0E6AB-EAB6-41E0-9D49-369643E873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33" name="Straight Connector 1032">
            <a:extLst>
              <a:ext uri="{FF2B5EF4-FFF2-40B4-BE49-F238E27FC236}">
                <a16:creationId xmlns:a16="http://schemas.microsoft.com/office/drawing/2014/main" id="{9A7693C2-7C46-4885-8B2F-E56127E15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Predictive Analytics It Difference Between Four Types Of Advanced ...">
            <a:extLst>
              <a:ext uri="{FF2B5EF4-FFF2-40B4-BE49-F238E27FC236}">
                <a16:creationId xmlns:a16="http://schemas.microsoft.com/office/drawing/2014/main" id="{1CA9E176-E1ED-EC6A-EBFF-39C43076132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807" r="29192" b="17284"/>
          <a:stretch>
            <a:fillRect/>
          </a:stretch>
        </p:blipFill>
        <p:spPr bwMode="auto">
          <a:xfrm>
            <a:off x="1259730" y="976272"/>
            <a:ext cx="9539459" cy="4905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8DC8D232-7D29-4476-9D51-FB25179F1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44268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DC4A75-ED18-B6C9-EE56-97F8CCE021E4}"/>
              </a:ext>
            </a:extLst>
          </p:cNvPr>
          <p:cNvSpPr txBox="1"/>
          <p:nvPr/>
        </p:nvSpPr>
        <p:spPr>
          <a:xfrm>
            <a:off x="890261" y="940825"/>
            <a:ext cx="6400800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000" cap="all" spc="30" dirty="0">
                <a:latin typeface="+mj-lt"/>
                <a:ea typeface="+mj-ea"/>
                <a:cs typeface="+mj-cs"/>
              </a:rPr>
              <a:t>CASE STUDY TIME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E813B4C-6731-0B72-5252-A79AB0E20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CEA123B-B9A9-074D-A8C0-B065C20AA264}"/>
              </a:ext>
            </a:extLst>
          </p:cNvPr>
          <p:cNvSpPr txBox="1"/>
          <p:nvPr/>
        </p:nvSpPr>
        <p:spPr>
          <a:xfrm>
            <a:off x="989815" y="2265770"/>
            <a:ext cx="5270308" cy="299952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Think of yourself as a doctor whose is treating a new patient. The patient is telling the doctor about his symptoms of illness. Doctor is trying to understand his illness.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endParaRPr lang="en-US" dirty="0"/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To confirm the illness he suggests some tests and after analyzing the reports he writes some medicines and also suggest him to walk under the sun for at least 1 hour.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endParaRPr lang="en-US" dirty="0"/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So, what type of analysis is the doctor doing?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E0E8146-6E65-2E6C-0C86-547E3C925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phic 3" descr="Doctor">
            <a:extLst>
              <a:ext uri="{FF2B5EF4-FFF2-40B4-BE49-F238E27FC236}">
                <a16:creationId xmlns:a16="http://schemas.microsoft.com/office/drawing/2014/main" id="{3412B04F-BA09-AD7C-805C-845B92FBAC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63003" y="2756223"/>
            <a:ext cx="3903980" cy="3903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3805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2CDB0A-5B03-6D40-6694-5AA414B5C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4E08986-8C27-FF98-C9FE-0F2D231C5E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F3B2014-04C3-8B81-7ADE-3910DCE9F8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7AE612E-76FD-F621-E746-C6CE35D8F2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0BAB60-657F-355D-0F7B-3625084B0B47}"/>
              </a:ext>
            </a:extLst>
          </p:cNvPr>
          <p:cNvSpPr txBox="1"/>
          <p:nvPr/>
        </p:nvSpPr>
        <p:spPr>
          <a:xfrm>
            <a:off x="981169" y="1079166"/>
            <a:ext cx="3215931" cy="69011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000" cap="all" spc="30" dirty="0">
                <a:latin typeface="+mj-lt"/>
                <a:ea typeface="+mj-ea"/>
                <a:cs typeface="+mj-cs"/>
              </a:rPr>
              <a:t>Short cases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065C6F6-4E74-35A9-4FA9-038C305B77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D6BB903-44F8-68E8-0E63-67E9DBE44573}"/>
              </a:ext>
            </a:extLst>
          </p:cNvPr>
          <p:cNvSpPr txBox="1"/>
          <p:nvPr/>
        </p:nvSpPr>
        <p:spPr>
          <a:xfrm>
            <a:off x="1170884" y="2274825"/>
            <a:ext cx="5028240" cy="279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lnSpc>
                <a:spcPct val="110000"/>
              </a:lnSpc>
              <a:spcAft>
                <a:spcPts val="600"/>
              </a:spcAft>
              <a:buAutoNum type="arabicPeriod"/>
            </a:pPr>
            <a:r>
              <a:rPr lang="en-US" dirty="0"/>
              <a:t>Suppose a company’s revenue is falling rapidly. What type of analysis would you perform?</a:t>
            </a:r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AutoNum type="arabicPeriod"/>
            </a:pPr>
            <a:endParaRPr lang="en-US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AutoNum type="arabicPeriod"/>
            </a:pPr>
            <a:r>
              <a:rPr lang="en-US" dirty="0"/>
              <a:t>Suppose you want to generate an annual report of the company what type of analytics you would perform?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A2911DA-05BF-5C10-76D6-04AD21501D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phic 3" descr="3d Glasses outline">
            <a:extLst>
              <a:ext uri="{FF2B5EF4-FFF2-40B4-BE49-F238E27FC236}">
                <a16:creationId xmlns:a16="http://schemas.microsoft.com/office/drawing/2014/main" id="{C82D56A9-5046-B3C9-2367-8B714BA247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370008" y="2274825"/>
            <a:ext cx="3903980" cy="3903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3405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DEF92653-5D6D-47E6-8744-0DAF76E04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C2805C4-0518-47FA-ACB0-20C4AACA7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2" y="960594"/>
            <a:ext cx="5828114" cy="49368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/>
              <a:t>Types of data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CA98CE3-81A7-4FFE-A047-9AA65998D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315200" y="1733549"/>
            <a:ext cx="0" cy="3390901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An educational infographic showing four types of data using icons only, without any text labels. The image is divided into four quadrants with pastel backgrounds. Top left quadrant shows a person icon with a shield and checkmark. Top right quadrant shows a receipt icon with a dollar sign. Bottom left quadrant shows a web browser window with a globe. Bottom right quadrant shows a sensor device emitting radio waves. No text or labels are included anywhere in the image.">
            <a:extLst>
              <a:ext uri="{FF2B5EF4-FFF2-40B4-BE49-F238E27FC236}">
                <a16:creationId xmlns:a16="http://schemas.microsoft.com/office/drawing/2014/main" id="{01FBD337-EB03-EA19-68D4-0038A5CE17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8670" y="1458652"/>
            <a:ext cx="3513228" cy="3968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79153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9" name="Rectangle 3088">
            <a:extLst>
              <a:ext uri="{FF2B5EF4-FFF2-40B4-BE49-F238E27FC236}">
                <a16:creationId xmlns:a16="http://schemas.microsoft.com/office/drawing/2014/main" id="{B9C0E6AB-EAB6-41E0-9D49-369643E873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Statistics: The Foundation of Data Science | GeeksforGeeks">
            <a:extLst>
              <a:ext uri="{FF2B5EF4-FFF2-40B4-BE49-F238E27FC236}">
                <a16:creationId xmlns:a16="http://schemas.microsoft.com/office/drawing/2014/main" id="{C37C937D-C6A2-58D5-7BCE-B1F8BADBE7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0" r="2" b="1122"/>
          <a:stretch>
            <a:fillRect/>
          </a:stretch>
        </p:blipFill>
        <p:spPr bwMode="auto">
          <a:xfrm>
            <a:off x="800100" y="723900"/>
            <a:ext cx="10591800" cy="541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32776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EAC9D6-3586-07C7-FB38-3616D3FF989D}"/>
              </a:ext>
            </a:extLst>
          </p:cNvPr>
          <p:cNvSpPr txBox="1"/>
          <p:nvPr/>
        </p:nvSpPr>
        <p:spPr>
          <a:xfrm>
            <a:off x="1279489" y="1276138"/>
            <a:ext cx="9753600" cy="4300695"/>
          </a:xfrm>
          <a:prstGeom prst="rect">
            <a:avLst/>
          </a:prstGeom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IN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0D1D86F-3BD1-553E-914B-3C043720F995}"/>
              </a:ext>
            </a:extLst>
          </p:cNvPr>
          <p:cNvGrpSpPr/>
          <p:nvPr/>
        </p:nvGrpSpPr>
        <p:grpSpPr>
          <a:xfrm>
            <a:off x="1396722" y="1452562"/>
            <a:ext cx="9535886" cy="3952875"/>
            <a:chOff x="1219200" y="1452563"/>
            <a:chExt cx="9753600" cy="3952875"/>
          </a:xfrm>
        </p:grpSpPr>
        <p:pic>
          <p:nvPicPr>
            <p:cNvPr id="4098" name="Picture 2" descr="Types of Data (Big Data) - Studyopedia">
              <a:extLst>
                <a:ext uri="{FF2B5EF4-FFF2-40B4-BE49-F238E27FC236}">
                  <a16:creationId xmlns:a16="http://schemas.microsoft.com/office/drawing/2014/main" id="{2D2CA7BA-7A42-ABB8-FA14-647BC7B776C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264" r="1264"/>
            <a:stretch>
              <a:fillRect/>
            </a:stretch>
          </p:blipFill>
          <p:spPr bwMode="auto">
            <a:xfrm>
              <a:off x="1219200" y="1452563"/>
              <a:ext cx="9753600" cy="39528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8ADF47F-594A-5A1A-BBC2-EEA1581271F9}"/>
                </a:ext>
              </a:extLst>
            </p:cNvPr>
            <p:cNvSpPr/>
            <p:nvPr/>
          </p:nvSpPr>
          <p:spPr>
            <a:xfrm>
              <a:off x="1219200" y="4962525"/>
              <a:ext cx="2628900" cy="371475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3342389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4B662F-30DB-FE3A-D1EA-8195A9F9C167}"/>
              </a:ext>
            </a:extLst>
          </p:cNvPr>
          <p:cNvSpPr txBox="1"/>
          <p:nvPr/>
        </p:nvSpPr>
        <p:spPr>
          <a:xfrm>
            <a:off x="1567587" y="2274838"/>
            <a:ext cx="388259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UNDERSTANDING VARIABLES OR ATTRIBUTES OR FEATURES</a:t>
            </a:r>
            <a:endParaRPr lang="en-IN" sz="3600" dirty="0">
              <a:latin typeface="+mj-lt"/>
            </a:endParaRPr>
          </a:p>
        </p:txBody>
      </p:sp>
      <p:sp>
        <p:nvSpPr>
          <p:cNvPr id="4" name="AutoShape 4" descr="Image result for UNDERSTANDING VARIABLES BETTER IMAGES">
            <a:extLst>
              <a:ext uri="{FF2B5EF4-FFF2-40B4-BE49-F238E27FC236}">
                <a16:creationId xmlns:a16="http://schemas.microsoft.com/office/drawing/2014/main" id="{419E73A5-8608-939E-E637-13B03B3B466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43425" y="2752725"/>
            <a:ext cx="3105150" cy="135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34" name="Picture 10" descr="Variable types and examples - Stats and R">
            <a:extLst>
              <a:ext uri="{FF2B5EF4-FFF2-40B4-BE49-F238E27FC236}">
                <a16:creationId xmlns:a16="http://schemas.microsoft.com/office/drawing/2014/main" id="{B35D4EC4-9EFB-CF6D-179E-43A4F83651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0020" y="1045600"/>
            <a:ext cx="5513560" cy="4445252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05105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80DA5AE3-99A3-4A84-E955-1CDD4674697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1706" b="1706"/>
          <a:stretch>
            <a:fillRect/>
          </a:stretch>
        </p:blipFill>
        <p:spPr>
          <a:xfrm>
            <a:off x="1141786" y="782786"/>
            <a:ext cx="10189779" cy="5292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999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EF92653-5D6D-47E6-8744-0DAF76E04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9BA77F-0FA5-78F6-6026-976CEADC301B}"/>
              </a:ext>
            </a:extLst>
          </p:cNvPr>
          <p:cNvSpPr txBox="1"/>
          <p:nvPr/>
        </p:nvSpPr>
        <p:spPr>
          <a:xfrm>
            <a:off x="800102" y="960594"/>
            <a:ext cx="5828114" cy="49368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Bef>
                <a:spcPct val="0"/>
              </a:spcBef>
              <a:spcAft>
                <a:spcPts val="600"/>
              </a:spcAft>
            </a:pPr>
            <a:r>
              <a:rPr lang="en-US" sz="6000" cap="all" spc="30">
                <a:latin typeface="+mj-lt"/>
                <a:ea typeface="+mj-ea"/>
                <a:cs typeface="+mj-cs"/>
              </a:rPr>
              <a:t>THANK YOU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CA98CE3-81A7-4FFE-A047-9AA65998D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315200" y="1733549"/>
            <a:ext cx="0" cy="3390901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7411295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6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E5F27FB-537D-45F4-9336-4C750F653375}">
  <we:reference id="wa200005566" version="3.0.0.3" store="en-U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188</TotalTime>
  <Words>381</Words>
  <Application>Microsoft Office PowerPoint</Application>
  <PresentationFormat>Widescreen</PresentationFormat>
  <Paragraphs>39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Calisto MT</vt:lpstr>
      <vt:lpstr>Univers Condensed</vt:lpstr>
      <vt:lpstr>ChronicleVTI</vt:lpstr>
      <vt:lpstr>Data Analytics Introduction</vt:lpstr>
      <vt:lpstr>DATA ? information ? KNOWLEDGE ?</vt:lpstr>
      <vt:lpstr>PowerPoint Presentation</vt:lpstr>
      <vt:lpstr> What does an analyst do?   Data Analyst vs Business Analyst</vt:lpstr>
      <vt:lpstr>PowerPoint Presentation</vt:lpstr>
      <vt:lpstr>General process involved In analytics</vt:lpstr>
      <vt:lpstr>PowerPoint Presentation</vt:lpstr>
      <vt:lpstr>Types OF Analytics</vt:lpstr>
      <vt:lpstr>PowerPoint Presentation</vt:lpstr>
      <vt:lpstr>PowerPoint Presentation</vt:lpstr>
      <vt:lpstr>PowerPoint Presentation</vt:lpstr>
      <vt:lpstr>Types of data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AKASH RAJ NIGAM</dc:creator>
  <cp:lastModifiedBy>AKASH RAJ NIGAM</cp:lastModifiedBy>
  <cp:revision>9</cp:revision>
  <dcterms:created xsi:type="dcterms:W3CDTF">2026-01-03T09:54:00Z</dcterms:created>
  <dcterms:modified xsi:type="dcterms:W3CDTF">2026-01-04T15:40:12Z</dcterms:modified>
</cp:coreProperties>
</file>